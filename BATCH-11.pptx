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87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85" r:id="rId17"/>
    <p:sldId id="286" r:id="rId18"/>
    <p:sldId id="271" r:id="rId19"/>
    <p:sldId id="272" r:id="rId20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3E7575-FF99-4D7F-A9C3-342926E8CF75}" type="datetimeFigureOut">
              <a:rPr lang="en-IN" smtClean="0"/>
              <a:t>05-12-2024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F839B-19BB-44CC-B1BD-D3E4109C12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11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0CE9-0672-4DA1-8CC6-DB7499889AC5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14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4001-87A7-4542-972D-92AC266D5003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930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655B4-4D88-4EC1-AF99-7726194EA1BB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222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00EC4-C332-4005-8640-679338D6D72F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183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FE5DD-1CD9-4C6E-A623-7EE0B14F5D11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56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D4D1-CD6E-453C-8CE8-C4BF38A87F99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87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D2ADD-B891-4312-ADE7-001F44FD2BA3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61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CFD40-5B3F-48CA-9E91-F177A4F9F956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92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08BCC-6910-4A61-97EF-6597F85AF1CF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48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5556-AF3A-414C-B2C3-202EE24804CB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701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F8648-5174-4940-83FF-D926A08FCBF2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210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6283B-F6D4-485C-8717-981EE02556F3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DB9CA-C85A-4E11-ADC0-8193E41C165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7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B37B9-2026-DD6B-FAB8-09EE4F671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0BB8833-2822-6B1C-FBFC-2674156E0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2015497"/>
            <a:ext cx="11894343" cy="4604067"/>
          </a:xfrm>
        </p:spPr>
        <p:txBody>
          <a:bodyPr>
            <a:noAutofit/>
          </a:bodyPr>
          <a:lstStyle/>
          <a:p>
            <a:pPr marL="0" indent="0" algn="ctr" rtl="0">
              <a:spcBef>
                <a:spcPts val="1000"/>
              </a:spcBef>
              <a:buNone/>
            </a:pPr>
            <a:r>
              <a:rPr lang="en-US" sz="3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  </a:t>
            </a:r>
          </a:p>
          <a:p>
            <a:pPr marL="0" indent="0" algn="ctr" rtl="0">
              <a:spcBef>
                <a:spcPts val="1000"/>
              </a:spcBef>
              <a:buNone/>
            </a:pPr>
            <a:r>
              <a:rPr lang="en-US" sz="3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</a:p>
          <a:p>
            <a:pPr marL="0" indent="0" algn="ctr" rtl="0">
              <a:spcBef>
                <a:spcPts val="1000"/>
              </a:spcBef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rtl="0">
              <a:spcBef>
                <a:spcPts val="1000"/>
              </a:spcBef>
              <a:buNone/>
            </a:pPr>
            <a:r>
              <a:rPr lang="en-US" sz="4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20CS5501 DESIGN PROJECT-1</a:t>
            </a:r>
          </a:p>
          <a:p>
            <a:pPr marL="0" indent="0" algn="ctr" rtl="0">
              <a:spcBef>
                <a:spcPts val="1000"/>
              </a:spcBef>
              <a:buNone/>
            </a:pPr>
            <a:br>
              <a:rPr lang="en-US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                                 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spcBef>
                <a:spcPts val="1000"/>
              </a:spcBef>
              <a:buNone/>
            </a:pPr>
            <a:r>
              <a:rPr lang="en-US" sz="3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 No. :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sz="3200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spcBef>
                <a:spcPts val="1000"/>
              </a:spcBef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ate  : 05.12.2024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6F88E8-C50B-0A33-52E6-4AE978D4F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640" y="6437002"/>
            <a:ext cx="2743200" cy="365125"/>
          </a:xfrm>
        </p:spPr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19FFFA7C-A65A-6E5C-3DEF-5244AEB82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44" y="307337"/>
            <a:ext cx="1066800" cy="1057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AF824101-4335-B951-7D97-9CFD12345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700" y="332101"/>
            <a:ext cx="1154112" cy="1103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429C6D29-4ADE-E7C5-AA96-67EC7C0B9918}"/>
              </a:ext>
            </a:extLst>
          </p:cNvPr>
          <p:cNvSpPr/>
          <p:nvPr/>
        </p:nvSpPr>
        <p:spPr>
          <a:xfrm>
            <a:off x="1382713" y="236538"/>
            <a:ext cx="9424987" cy="1198875"/>
          </a:xfrm>
          <a:prstGeom prst="rect">
            <a:avLst/>
          </a:prstGeom>
          <a:noFill/>
          <a:ln w="9525">
            <a:noFill/>
          </a:ln>
        </p:spPr>
        <p:txBody>
          <a:bodyPr lIns="90000" tIns="45000" rIns="90000" bIns="45000">
            <a:spAutoFit/>
          </a:bodyPr>
          <a:lstStyle/>
          <a:p>
            <a:pPr algn="ctr" defTabSz="457200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</a:pPr>
            <a:r>
              <a:rPr lang="en-US" altLang="en-US" sz="3600" b="1" dirty="0">
                <a:solidFill>
                  <a:srgbClr val="FF0066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K.RAMAKRISHNAN COLLEGE OF TECHNOLOGY</a:t>
            </a:r>
          </a:p>
          <a:p>
            <a:pPr algn="ctr" defTabSz="457200"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</a:tabLst>
            </a:pPr>
            <a:r>
              <a:rPr lang="en-US" altLang="en-US" sz="3600" b="1" dirty="0">
                <a:solidFill>
                  <a:srgbClr val="FF0066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(AUTONOMOUS), TRICHY.</a:t>
            </a:r>
            <a:endParaRPr lang="en-US" altLang="en-US" sz="3600" b="1" dirty="0">
              <a:solidFill>
                <a:srgbClr val="0000FF"/>
              </a:solidFill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1D90308-8127-FE3D-A70A-A27A0F42EB87}"/>
              </a:ext>
            </a:extLst>
          </p:cNvPr>
          <p:cNvSpPr txBox="1">
            <a:spLocks/>
          </p:cNvSpPr>
          <p:nvPr/>
        </p:nvSpPr>
        <p:spPr>
          <a:xfrm>
            <a:off x="0" y="2494915"/>
            <a:ext cx="12180887" cy="1137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831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idx="1"/>
          </p:nvPr>
        </p:nvSpPr>
        <p:spPr>
          <a:xfrm>
            <a:off x="794782" y="3832212"/>
            <a:ext cx="10602436" cy="20148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</a:t>
            </a:r>
            <a:r>
              <a:rPr 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</a:p>
          <a:p>
            <a:pPr marL="0" indent="0">
              <a:buNone/>
            </a:pPr>
            <a:r>
              <a:rPr lang="en-US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Ms.S.Uma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Mageshwari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.(M.E)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Arulnithi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K(811722104015)</a:t>
            </a:r>
          </a:p>
          <a:p>
            <a:pPr marL="0" indent="0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CSE 			 Balaji K (811722104020)</a:t>
            </a:r>
          </a:p>
          <a:p>
            <a:pPr marL="0" indent="0">
              <a:buNone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		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Hariprasath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 (811722104046)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565CA9-DAD9-64ED-2AB9-0930232F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640" y="6437002"/>
            <a:ext cx="2743200" cy="365125"/>
          </a:xfrm>
        </p:spPr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F97A502-958A-FC6B-BDB0-7D11A34701C7}"/>
              </a:ext>
            </a:extLst>
          </p:cNvPr>
          <p:cNvSpPr txBox="1">
            <a:spLocks/>
          </p:cNvSpPr>
          <p:nvPr/>
        </p:nvSpPr>
        <p:spPr>
          <a:xfrm>
            <a:off x="0" y="1143635"/>
            <a:ext cx="12192000" cy="1137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03A56-EA85-410A-0F00-5000F6699F02}"/>
              </a:ext>
            </a:extLst>
          </p:cNvPr>
          <p:cNvSpPr txBox="1"/>
          <p:nvPr/>
        </p:nvSpPr>
        <p:spPr>
          <a:xfrm>
            <a:off x="1691149" y="1743710"/>
            <a:ext cx="83180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ECO-ATTENDANCE THROUGH FACIAL RECOGNITION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403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7786"/>
            <a:ext cx="12192000" cy="74167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0880" y="1290319"/>
            <a:ext cx="10662920" cy="483517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sz="2800" dirty="0">
                <a:latin typeface="Times New Roman" panose="02020603050405020304" pitchFamily="18" charset="0"/>
                <a:ea typeface="Segoe UI" panose="020B0502040204020203" pitchFamily="34" charset="0"/>
              </a:rPr>
              <a:t>The objective of our project is to develop an automated system for school attendance tracking. The specific goals include: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800" dirty="0">
                <a:latin typeface="Times New Roman" panose="02020603050405020304" pitchFamily="18" charset="0"/>
                <a:ea typeface="Segoe UI" panose="020B0502040204020203" pitchFamily="34" charset="0"/>
              </a:rPr>
              <a:t>1.</a:t>
            </a:r>
            <a:r>
              <a:rPr lang="en-US" altLang="en-US" sz="2800" b="1" dirty="0">
                <a:latin typeface="Times New Roman" panose="02020603050405020304" pitchFamily="18" charset="0"/>
                <a:ea typeface="Segoe UI" panose="020B0502040204020203" pitchFamily="34" charset="0"/>
              </a:rPr>
              <a:t>Automated Attendance Tracking:</a:t>
            </a:r>
            <a:r>
              <a:rPr lang="en-US" altLang="en-US" sz="2800" dirty="0">
                <a:latin typeface="Times New Roman" panose="02020603050405020304" pitchFamily="18" charset="0"/>
                <a:ea typeface="Segoe UI" panose="020B0502040204020203" pitchFamily="34" charset="0"/>
              </a:rPr>
              <a:t> To automatically record student attendance in an Excel sheet, eliminating the need for manual roll calls and reducing errors.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dirty="0">
                <a:latin typeface="Times New Roman" panose="02020603050405020304" pitchFamily="18" charset="0"/>
                <a:ea typeface="Segoe UI" panose="020B0502040204020203" pitchFamily="34" charset="0"/>
              </a:rPr>
              <a:t>2</a:t>
            </a:r>
            <a:r>
              <a:rPr lang="en-US" altLang="en-US" sz="2800" dirty="0">
                <a:latin typeface="Times New Roman" panose="02020603050405020304" pitchFamily="18" charset="0"/>
                <a:ea typeface="Segoe UI" panose="020B0502040204020203" pitchFamily="34" charset="0"/>
              </a:rPr>
              <a:t>. </a:t>
            </a:r>
            <a:r>
              <a:rPr lang="en-US" altLang="en-US" sz="2800" b="1" dirty="0">
                <a:latin typeface="Times New Roman" panose="02020603050405020304" pitchFamily="18" charset="0"/>
                <a:ea typeface="Segoe UI" panose="020B0502040204020203" pitchFamily="34" charset="0"/>
              </a:rPr>
              <a:t>Improvement of Administrative Efficiency: </a:t>
            </a:r>
            <a:r>
              <a:rPr lang="en-US" altLang="en-US" sz="2800" dirty="0">
                <a:latin typeface="Times New Roman" panose="02020603050405020304" pitchFamily="18" charset="0"/>
                <a:ea typeface="Segoe UI" panose="020B0502040204020203" pitchFamily="34" charset="0"/>
              </a:rPr>
              <a:t>To save time for both students and staff through the use of innovative AI solutions.</a:t>
            </a:r>
            <a:endParaRPr lang="en-IN" altLang="en-US" sz="2800" dirty="0">
              <a:latin typeface="Times New Roman" panose="02020603050405020304" pitchFamily="18" charset="0"/>
              <a:ea typeface="Segoe UI" panose="020B0502040204020203" pitchFamily="34" charset="0"/>
            </a:endParaRPr>
          </a:p>
          <a:p>
            <a:pPr marL="0" indent="0" algn="just">
              <a:buClr>
                <a:srgbClr val="FF0000"/>
              </a:buClr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719CA-84EC-48A5-22A6-771E0212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3</a:t>
            </a:fld>
            <a:endParaRPr lang="en-IN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51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B144-E1E7-CE6B-C627-835A3E92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323" y="609601"/>
            <a:ext cx="12192000" cy="80264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48DD8C-1D8F-B9DE-4B9C-20A58B88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4</a:t>
            </a:fld>
            <a:endParaRPr lang="en-IN" b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8FC02-1FD0-5334-2FB7-B2B37BF1007C}"/>
              </a:ext>
            </a:extLst>
          </p:cNvPr>
          <p:cNvSpPr txBox="1"/>
          <p:nvPr/>
        </p:nvSpPr>
        <p:spPr>
          <a:xfrm>
            <a:off x="1229032" y="1412241"/>
            <a:ext cx="953729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23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en-US" sz="2800" spc="2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en-US" sz="2800" spc="2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uses</a:t>
            </a:r>
            <a:r>
              <a:rPr lang="en-US" sz="2800" spc="2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facial</a:t>
            </a:r>
            <a:r>
              <a:rPr lang="en-US" sz="2800" spc="23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recognition</a:t>
            </a:r>
            <a:r>
              <a:rPr lang="en-US" sz="2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n-US" sz="2800" spc="2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determine</a:t>
            </a:r>
            <a:r>
              <a:rPr lang="en-US" sz="2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whether</a:t>
            </a:r>
            <a:r>
              <a:rPr lang="en-US" sz="2800" spc="2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</a:t>
            </a:r>
            <a:r>
              <a:rPr lang="en-US" sz="2800" spc="2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19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</a:t>
            </a:r>
            <a:r>
              <a:rPr lang="en-US" sz="2800" spc="2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US" sz="2800" spc="27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absent</a:t>
            </a:r>
            <a:r>
              <a:rPr lang="en-US" sz="2800" spc="23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and,</a:t>
            </a:r>
            <a:r>
              <a:rPr lang="en-US" sz="2800" spc="2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US" sz="2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present,</a:t>
            </a:r>
            <a:r>
              <a:rPr lang="en-US" sz="2800" spc="2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automatically</a:t>
            </a:r>
            <a:r>
              <a:rPr lang="en-US" sz="2800" spc="2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records</a:t>
            </a:r>
            <a:r>
              <a:rPr lang="en-US" sz="2800" spc="2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their</a:t>
            </a:r>
            <a:r>
              <a:rPr lang="en-US" sz="2800" spc="2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attendance</a:t>
            </a:r>
            <a:r>
              <a:rPr lang="en-US" sz="2800" spc="2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including date and time 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2800" spc="24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</a:t>
            </a:r>
            <a:r>
              <a:rPr lang="en-US" sz="2800" spc="2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  <a:r>
              <a:rPr lang="en-US" sz="2800" spc="2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sheet.</a:t>
            </a:r>
            <a:r>
              <a:rPr lang="en-US" sz="2800" spc="16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800" spc="6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  <a:r>
              <a:rPr lang="en-US" sz="2800" spc="6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operates</a:t>
            </a:r>
            <a:r>
              <a:rPr lang="en-US" sz="2800" spc="7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r>
              <a:rPr lang="en-US" sz="2800" spc="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capturing</a:t>
            </a:r>
            <a:r>
              <a:rPr lang="en-US" sz="2800" spc="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</a:t>
            </a:r>
            <a:r>
              <a:rPr lang="en-US" sz="2800" spc="6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video</a:t>
            </a:r>
            <a:r>
              <a:rPr lang="en-US" sz="2800" spc="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frames</a:t>
            </a:r>
            <a:r>
              <a:rPr lang="en-US" sz="2800" spc="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through</a:t>
            </a:r>
            <a:r>
              <a:rPr lang="en-US" sz="2800" spc="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camera,</a:t>
            </a:r>
            <a:r>
              <a:rPr lang="en-US" sz="2800" spc="2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detecting</a:t>
            </a:r>
            <a:r>
              <a:rPr lang="en-US" sz="2800" spc="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2800" spc="7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recognizing</a:t>
            </a:r>
            <a:r>
              <a:rPr lang="en-US" sz="2800" spc="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student’s</a:t>
            </a:r>
            <a:r>
              <a:rPr lang="en-US" sz="2800" spc="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faces,</a:t>
            </a:r>
            <a:r>
              <a:rPr lang="en-US" sz="2800" spc="5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2800" spc="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matching</a:t>
            </a:r>
            <a:r>
              <a:rPr lang="en-US" sz="2800" spc="7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them</a:t>
            </a:r>
            <a:r>
              <a:rPr lang="en-US" sz="2800" spc="8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against</a:t>
            </a:r>
            <a:r>
              <a:rPr lang="en-US" sz="2800" spc="8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7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pre-stored</a:t>
            </a:r>
            <a:r>
              <a:rPr lang="en-US" sz="2800" spc="15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n-US" sz="2800" spc="2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2800" spc="2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</a:t>
            </a:r>
            <a:r>
              <a:rPr lang="en-US" sz="2800" spc="2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images.</a:t>
            </a:r>
            <a:endParaRPr lang="en-US" sz="2800" spc="22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en-US" sz="2800" spc="23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2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match</a:t>
            </a:r>
            <a:r>
              <a:rPr lang="en-US" sz="2800" spc="23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23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found,</a:t>
            </a:r>
            <a:r>
              <a:rPr lang="en-US" sz="2800" spc="19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800" spc="2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student's</a:t>
            </a:r>
            <a:r>
              <a:rPr lang="en-US" sz="2800" spc="2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attendance</a:t>
            </a:r>
            <a:r>
              <a:rPr lang="en-US" sz="2800" spc="2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26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marked</a:t>
            </a:r>
            <a:r>
              <a:rPr lang="en-US" sz="2800" spc="3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en-US" sz="2800" spc="4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"present"</a:t>
            </a:r>
            <a:r>
              <a:rPr lang="en-US" sz="2800" spc="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sz="2800" spc="3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logged</a:t>
            </a:r>
            <a:r>
              <a:rPr lang="en-US" sz="2800" spc="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lang="en-US" sz="2800" spc="3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spc="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timestamp</a:t>
            </a:r>
            <a:r>
              <a:rPr lang="en-US" sz="2800" spc="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US" sz="2800" spc="4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</a:t>
            </a:r>
            <a:r>
              <a:rPr lang="en-US" sz="2800" spc="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  <a:r>
              <a:rPr lang="en-US" sz="2800" spc="2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sheet,</a:t>
            </a:r>
            <a:r>
              <a:rPr lang="en-US" sz="2800" spc="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otherwise,</a:t>
            </a:r>
            <a:r>
              <a:rPr lang="en-US" sz="2800" spc="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800" spc="2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</a:t>
            </a:r>
            <a:r>
              <a:rPr lang="en-US" sz="2800" spc="25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2800" spc="25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considered</a:t>
            </a:r>
            <a:r>
              <a:rPr lang="en-US" sz="2800" spc="24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"absent."</a:t>
            </a:r>
            <a:endParaRPr lang="en-US" sz="2800" spc="235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180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51458D68-90BE-78C0-2D1F-5F06A014E9AE}"/>
              </a:ext>
            </a:extLst>
          </p:cNvPr>
          <p:cNvSpPr>
            <a:spLocks noGrp="1"/>
          </p:cNvSpPr>
          <p:nvPr/>
        </p:nvSpPr>
        <p:spPr>
          <a:xfrm>
            <a:off x="8753993" y="62420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6CADC-10C3-2DD9-AD6B-3084811AC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5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444ED-5485-8FAF-9816-CC5770D0B3F8}"/>
              </a:ext>
            </a:extLst>
          </p:cNvPr>
          <p:cNvSpPr/>
          <p:nvPr/>
        </p:nvSpPr>
        <p:spPr>
          <a:xfrm>
            <a:off x="3389307" y="0"/>
            <a:ext cx="519969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E44D4C-0BF0-DCBC-B59B-935575E41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272880"/>
              </p:ext>
            </p:extLst>
          </p:nvPr>
        </p:nvGraphicFramePr>
        <p:xfrm>
          <a:off x="694807" y="639448"/>
          <a:ext cx="10992465" cy="6156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98493">
                  <a:extLst>
                    <a:ext uri="{9D8B030D-6E8A-4147-A177-3AD203B41FA5}">
                      <a16:colId xmlns:a16="http://schemas.microsoft.com/office/drawing/2014/main" val="1458285663"/>
                    </a:ext>
                  </a:extLst>
                </a:gridCol>
                <a:gridCol w="2198493">
                  <a:extLst>
                    <a:ext uri="{9D8B030D-6E8A-4147-A177-3AD203B41FA5}">
                      <a16:colId xmlns:a16="http://schemas.microsoft.com/office/drawing/2014/main" val="109330403"/>
                    </a:ext>
                  </a:extLst>
                </a:gridCol>
                <a:gridCol w="2198493">
                  <a:extLst>
                    <a:ext uri="{9D8B030D-6E8A-4147-A177-3AD203B41FA5}">
                      <a16:colId xmlns:a16="http://schemas.microsoft.com/office/drawing/2014/main" val="3321216741"/>
                    </a:ext>
                  </a:extLst>
                </a:gridCol>
                <a:gridCol w="2198493">
                  <a:extLst>
                    <a:ext uri="{9D8B030D-6E8A-4147-A177-3AD203B41FA5}">
                      <a16:colId xmlns:a16="http://schemas.microsoft.com/office/drawing/2014/main" val="468552966"/>
                    </a:ext>
                  </a:extLst>
                </a:gridCol>
                <a:gridCol w="2198493">
                  <a:extLst>
                    <a:ext uri="{9D8B030D-6E8A-4147-A177-3AD203B41FA5}">
                      <a16:colId xmlns:a16="http://schemas.microsoft.com/office/drawing/2014/main" val="1421465586"/>
                    </a:ext>
                  </a:extLst>
                </a:gridCol>
              </a:tblGrid>
              <a:tr h="92159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TITLE OF THE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AUTHOR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PUBLISHER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PAPER GIST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TECHNOLOGY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417673"/>
                  </a:ext>
                </a:extLst>
              </a:tr>
              <a:tr h="12200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Facial Fusion(2023)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Rana H. Al-Abboodi,Ayad A. Al-Ani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of record (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journal articles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Facial Fusion </a:t>
                      </a:r>
                      <a:r>
                        <a:rPr lang="en-US" dirty="0"/>
                        <a:t>as  synthesis by combining features from multiple images.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CNNs (Convolutional Neural Networks)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GANs (Generative Adversarial Networks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724830"/>
                  </a:ext>
                </a:extLst>
              </a:tr>
              <a:tr h="11645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ArcFace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Additive Angular Margin Loss (2019)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Deng, J., Guo, J., Xue, N., &amp; 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Zafeiriou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 Analysis and Machine Intelligence (PAMI)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Additive Angular Margin Loss</a:t>
                      </a:r>
                      <a:r>
                        <a:rPr lang="en-US" dirty="0"/>
                        <a:t>, for improving deep face recognition systems.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en-IN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ArcFace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Additive Angular Margin Loss(AAML) for Deep Face Recognition"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361405"/>
                  </a:ext>
                </a:extLst>
              </a:tr>
              <a:tr h="11594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Texture-Guided Transfer Learning (2004)</a:t>
                      </a:r>
                    </a:p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Smith, A.; Johnson, B.; &amp; Lee, C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Texture-Guided (TG)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 the transfer of knowledge between tasks, specifically in the context of image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“Texture-Guided Transfer Learning" for Low-Quality Face Recognition.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881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48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4754F-8FB2-8EFC-A8C1-C7C12948A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2AB5493F-DCA5-46B6-6F4A-2C765DEAB10F}"/>
              </a:ext>
            </a:extLst>
          </p:cNvPr>
          <p:cNvSpPr>
            <a:spLocks noGrp="1"/>
          </p:cNvSpPr>
          <p:nvPr/>
        </p:nvSpPr>
        <p:spPr>
          <a:xfrm>
            <a:off x="8753993" y="62420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62A6D6-FC26-55ED-C7CE-F885356F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6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3EA815-D4E3-422E-89EF-850D1DE39CF8}"/>
              </a:ext>
            </a:extLst>
          </p:cNvPr>
          <p:cNvSpPr/>
          <p:nvPr/>
        </p:nvSpPr>
        <p:spPr>
          <a:xfrm>
            <a:off x="3410907" y="391773"/>
            <a:ext cx="519969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808142-7285-5243-CD46-0433C699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04542"/>
              </p:ext>
            </p:extLst>
          </p:nvPr>
        </p:nvGraphicFramePr>
        <p:xfrm>
          <a:off x="737420" y="1398091"/>
          <a:ext cx="10992465" cy="41452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98493">
                  <a:extLst>
                    <a:ext uri="{9D8B030D-6E8A-4147-A177-3AD203B41FA5}">
                      <a16:colId xmlns:a16="http://schemas.microsoft.com/office/drawing/2014/main" val="1458285663"/>
                    </a:ext>
                  </a:extLst>
                </a:gridCol>
                <a:gridCol w="2198493">
                  <a:extLst>
                    <a:ext uri="{9D8B030D-6E8A-4147-A177-3AD203B41FA5}">
                      <a16:colId xmlns:a16="http://schemas.microsoft.com/office/drawing/2014/main" val="109330403"/>
                    </a:ext>
                  </a:extLst>
                </a:gridCol>
                <a:gridCol w="2198493">
                  <a:extLst>
                    <a:ext uri="{9D8B030D-6E8A-4147-A177-3AD203B41FA5}">
                      <a16:colId xmlns:a16="http://schemas.microsoft.com/office/drawing/2014/main" val="3321216741"/>
                    </a:ext>
                  </a:extLst>
                </a:gridCol>
                <a:gridCol w="2198493">
                  <a:extLst>
                    <a:ext uri="{9D8B030D-6E8A-4147-A177-3AD203B41FA5}">
                      <a16:colId xmlns:a16="http://schemas.microsoft.com/office/drawing/2014/main" val="17618910"/>
                    </a:ext>
                  </a:extLst>
                </a:gridCol>
                <a:gridCol w="2198493">
                  <a:extLst>
                    <a:ext uri="{9D8B030D-6E8A-4147-A177-3AD203B41FA5}">
                      <a16:colId xmlns:a16="http://schemas.microsoft.com/office/drawing/2014/main" val="1421465586"/>
                    </a:ext>
                  </a:extLst>
                </a:gridCol>
              </a:tblGrid>
              <a:tr h="921592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TITLE OF THE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AUTHOR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PUBLISHER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PAPER GIST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TECHNOLOGY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417673"/>
                  </a:ext>
                </a:extLst>
              </a:tr>
              <a:tr h="122009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Facial hair recognition</a:t>
                      </a:r>
                    </a:p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(2009)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Fang, H., &amp;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Costen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N. 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Conference on Image Processing (ICIP),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Focuses on the problem of recognizing and distinguishing </a:t>
                      </a:r>
                      <a:r>
                        <a:rPr lang="en-US" b="0" dirty="0"/>
                        <a:t>facial hair</a:t>
                      </a:r>
                      <a:r>
                        <a:rPr lang="en-US" dirty="0"/>
                        <a:t> in images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Facial hair recognition using frequency domain features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724830"/>
                  </a:ext>
                </a:extLst>
              </a:tr>
              <a:tr h="1426982"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FaceNet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A Unified Embedding for Face Recognition and Clustering(2015)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Schroff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F.,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Kalenichenko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D., &amp; Philbin, J. 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Conference on Computer Vision and Pattern Recognition (CVPR)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unified embedding model that transforms face images into a 128-dimensional Euclidean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dirty="0"/>
                        <a:t>-Triplet Loss Function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dirty="0"/>
                        <a:t>-Face Embeddings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IN" dirty="0"/>
                        <a:t>-</a:t>
                      </a:r>
                      <a:r>
                        <a:rPr lang="en-US" dirty="0"/>
                        <a:t>Pre-trained Model and Transfer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361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316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035ECD-8932-B902-C9D9-589184D1C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7</a:t>
            </a:fld>
            <a:endParaRPr lang="en-IN" b="1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A7221F-C7A6-90E9-6D9A-3385F58D0F8F}"/>
              </a:ext>
            </a:extLst>
          </p:cNvPr>
          <p:cNvSpPr/>
          <p:nvPr/>
        </p:nvSpPr>
        <p:spPr>
          <a:xfrm>
            <a:off x="1682946" y="80010"/>
            <a:ext cx="857176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US" sz="36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09683C-C007-F78F-ADE4-51DE55E2E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848" y="860174"/>
            <a:ext cx="7661964" cy="567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76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7042" y="0"/>
            <a:ext cx="831529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ARCHITECTURE</a:t>
            </a:r>
            <a:endParaRPr lang="en-US" sz="36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7A4D33-F4E6-A882-5A00-649031D75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8</a:t>
            </a:fld>
            <a:endParaRPr lang="en-IN" b="1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10C1FE-C643-5328-9242-285418E9E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754" y="1009785"/>
            <a:ext cx="9200924" cy="52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98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8425" y="501650"/>
            <a:ext cx="12192000" cy="539115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IN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9058" y="2671762"/>
            <a:ext cx="5157787" cy="3684588"/>
          </a:xfrm>
        </p:spPr>
        <p:txBody>
          <a:bodyPr/>
          <a:lstStyle/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1.Processor : Intel i5 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2.RAM : 4 GB Recommended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3.ROM : 120 GB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Web Camera</a:t>
            </a:r>
          </a:p>
          <a:p>
            <a:pPr marL="0" indent="0">
              <a:buClr>
                <a:srgbClr val="FF0000"/>
              </a:buClr>
              <a:buNone/>
            </a:pP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FF0000"/>
              </a:buClr>
              <a:buNone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IN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55638" y="2510632"/>
            <a:ext cx="4982272" cy="3684588"/>
          </a:xfrm>
        </p:spPr>
        <p:txBody>
          <a:bodyPr>
            <a:normAutofit/>
          </a:bodyPr>
          <a:lstStyle/>
          <a:p>
            <a:pPr marL="0" indent="0">
              <a:buClr>
                <a:srgbClr val="FF0000"/>
              </a:buClr>
              <a:buNone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1.OPERATION SYSTEM :       Window OS 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2.Excel Software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3.Python IDLE 3.11.0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4.Python Libraries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5.Open CV</a:t>
            </a:r>
          </a:p>
          <a:p>
            <a:pPr marL="0" indent="0">
              <a:buClr>
                <a:srgbClr val="FF0000"/>
              </a:buClr>
              <a:buNone/>
            </a:pP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10F224-1ECA-5609-500D-C405C45A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9</a:t>
            </a:fld>
            <a:endParaRPr lang="en-IN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870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1037"/>
            <a:ext cx="12192000" cy="66278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1.Face Detection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2.Face Recognition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3.Image matching</a:t>
            </a:r>
          </a:p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4.Updating Excel sheet</a:t>
            </a:r>
          </a:p>
          <a:p>
            <a:pPr marL="0" indent="0">
              <a:buClr>
                <a:srgbClr val="FF0000"/>
              </a:buClr>
              <a:buNone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FF0000"/>
              </a:buClr>
              <a:buNone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FF0000"/>
              </a:buClr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4A904-3DA7-8604-6824-D849FE78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10</a:t>
            </a:fld>
            <a:endParaRPr lang="en-IN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77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1131"/>
            <a:ext cx="12192000" cy="68103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SUMMARY OF MODULE-1</a:t>
            </a:r>
            <a:endParaRPr lang="en-I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42168"/>
            <a:ext cx="10515600" cy="4935992"/>
          </a:xfrm>
        </p:spPr>
        <p:txBody>
          <a:bodyPr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IN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en-US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etect</a:t>
            </a:r>
            <a:r>
              <a:rPr kumimoji="0" lang="en-US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 face: </a:t>
            </a: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 detect a face of a student we need take a snap of student and detection of student face will be done by model file called the </a:t>
            </a:r>
            <a:r>
              <a:rPr kumimoji="0" lang="en-US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haarcascade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</a:t>
            </a:r>
            <a:r>
              <a:rPr kumimoji="0" lang="en-US" alt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frontalface</a:t>
            </a: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_default.xml 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re-trained model file: </a:t>
            </a: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haarcascade_frontalface_default.xml is a pre-trained model file used in computer vision, specifically for detecting faces in images and videos. </a:t>
            </a:r>
          </a:p>
          <a:p>
            <a:pPr>
              <a:lnSpc>
                <a:spcPct val="150000"/>
              </a:lnSpc>
              <a:defRPr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en-US" sz="23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ramework</a:t>
            </a:r>
            <a:r>
              <a:rPr kumimoji="0" lang="en-US" altLang="en-US" sz="23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: </a:t>
            </a:r>
            <a:r>
              <a:rPr kumimoji="0" lang="en-US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OpenCV (Open Source Computer Vision Library) framework.</a:t>
            </a:r>
          </a:p>
          <a:p>
            <a:pPr>
              <a:lnSpc>
                <a:spcPct val="150000"/>
              </a:lnSpc>
              <a:defRPr/>
            </a:pPr>
            <a:r>
              <a:rPr lang="en-US" sz="23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 : 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uses a sliding window approach to scan the input image, applying </a:t>
            </a:r>
            <a:r>
              <a:rPr lang="en-US" sz="23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lang="en-US" sz="23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features to determine whether a face is present</a:t>
            </a:r>
            <a:endParaRPr kumimoji="0" lang="en-US" alt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0" indent="0" algn="just">
              <a:buClr>
                <a:srgbClr val="FF0000"/>
              </a:buCl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Clr>
                <a:srgbClr val="FF0000"/>
              </a:buCl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604BA-62E1-6B15-4EC2-F7F28ED2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11</a:t>
            </a:fld>
            <a:endParaRPr lang="en-IN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781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78498"/>
            <a:ext cx="12192000" cy="68103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SUMMARY OF MODULE-2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7584"/>
            <a:ext cx="10515600" cy="4749379"/>
          </a:xfrm>
        </p:spPr>
        <p:txBody>
          <a:bodyPr>
            <a:normAutofit fontScale="85000" lnSpcReduction="20000"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Face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Recognitio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is done a Algorithm  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H(Local Binary Patterns Histograms) is a popular face recognition algorithm.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roposed algorithm : 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algorithm begins by converting the input face into a grayscale image, which is then divided into smaller regions called "blocks".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locks: 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each block, the Local Binary Patterns (LBP) operator is applied to extract a histogram of features that describe the texture and patterns of the face. 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eturns: 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returns the closest match, which is the recognized face.</a:t>
            </a:r>
            <a:endParaRPr kumimoji="0" lang="en-IN" alt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FF0000"/>
              </a:buClr>
              <a:buNone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FF0000"/>
              </a:buClr>
              <a:buNone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BFD95C-0E04-8654-9A33-27307CCD2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12</a:t>
            </a:fld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12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5A6BB-47CA-0FB1-DBF0-FD6C563FC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5F7A-14AA-E4E7-B8DE-23B1DBE83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0091"/>
            <a:ext cx="12192000" cy="68103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SUMMARY OF MODULE-3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943E6-05D1-A13E-8F7B-9F4C77FB1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07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IMAGE MATCHING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Matching and Identification: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Once a face is detected, it is compared to the student database.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a match is found, the student is recognized and marked as present.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sz="2400" b="1" dirty="0"/>
              <a:t>Technologies: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 </a:t>
            </a:r>
            <a:r>
              <a:rPr lang="en-US" dirty="0"/>
              <a:t>OpenCV, </a:t>
            </a:r>
            <a:r>
              <a:rPr lang="en-US" dirty="0" err="1"/>
              <a:t>FaceNet</a:t>
            </a:r>
            <a:r>
              <a:rPr lang="en-US" dirty="0"/>
              <a:t>, </a:t>
            </a:r>
            <a:r>
              <a:rPr lang="en-US" dirty="0" err="1"/>
              <a:t>Dlib</a:t>
            </a:r>
            <a:r>
              <a:rPr lang="en-US" dirty="0"/>
              <a:t>, Python.</a:t>
            </a: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+mn-cs"/>
            </a:endParaRPr>
          </a:p>
          <a:p>
            <a:pPr marL="0" indent="0"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FF0000"/>
              </a:buClr>
              <a:buNone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EDCE8-32B6-397B-0564-D5DA8173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13</a:t>
            </a:fld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962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B1614-42A2-D2CE-10AF-EAF925909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874F-381A-C207-B399-45B33863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506"/>
            <a:ext cx="12192000" cy="68103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SUMMARY OF MODULE-4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9FCB8-D3B7-9E06-FB2B-B78B0EE5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in sheet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After recognizing face and beard of a student and that corresponding information or result will be updated automatically in sheet</a:t>
            </a:r>
          </a:p>
          <a:p>
            <a:pPr lvl="1" algn="just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kumimoji="0" lang="en-US" alt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Additionaly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to add a system date and time.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indent="0">
              <a:buClr>
                <a:srgbClr val="FF0000"/>
              </a:buClr>
              <a:buNone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Clr>
                <a:srgbClr val="FF0000"/>
              </a:buClr>
              <a:buNone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DF9B0-1A13-B121-8024-27816150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14</a:t>
            </a:fld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988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356E-6FC8-683E-D337-621A4419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CD300-6FEA-6D2C-C5B2-700E7B4A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15</a:t>
            </a:fld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F4FF87-F0C3-DD90-DE59-ABAA65C5FCF4}"/>
              </a:ext>
            </a:extLst>
          </p:cNvPr>
          <p:cNvSpPr txBox="1"/>
          <p:nvPr/>
        </p:nvSpPr>
        <p:spPr>
          <a:xfrm>
            <a:off x="904568" y="11426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254F1D9-E2E4-94A5-EFA6-ECA1F6977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257" y="1614564"/>
            <a:ext cx="5063613" cy="3808259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F1A5FD-8433-61D1-AFE9-32D36E4E1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32" y="1614564"/>
            <a:ext cx="4612320" cy="380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116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B702D6D-9CDB-55E4-DA90-CE6FB7B45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631" y="1393005"/>
            <a:ext cx="5355721" cy="3906582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39B91C-F084-70C7-5814-4580764F0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2850" y="1393006"/>
            <a:ext cx="6021640" cy="3906581"/>
          </a:xfrm>
        </p:spPr>
      </p:pic>
    </p:spTree>
    <p:extLst>
      <p:ext uri="{BB962C8B-B14F-4D97-AF65-F5344CB8AC3E}">
        <p14:creationId xmlns:p14="http://schemas.microsoft.com/office/powerpoint/2010/main" val="421346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B88CAB-0A55-BDF3-61BE-2FAC24D26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0752" y="717550"/>
            <a:ext cx="10390495" cy="545941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B6EA4-FC51-8B7B-8C8F-5C7B242AA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4001-87A7-4542-972D-92AC266D5003}" type="datetime1">
              <a:rPr lang="en-IN" smtClean="0"/>
              <a:t>05-12-2024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09747-C032-7FC3-2B40-30A3BCFB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2962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1212"/>
            <a:ext cx="10515600" cy="5255137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of an automated system for school attendance tracking using facial recognition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achieved its objectives. </a:t>
            </a:r>
          </a:p>
          <a:p>
            <a:pPr marL="0" indent="0" rtl="0"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of this innovative AI solution has brought numerous benefits , including: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errors and increased accuracy in attendance tracking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transparency and accountability in the enforcement of  rules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efficiency and productivity for  administrators and staff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IN" sz="2800" dirty="0"/>
          </a:p>
          <a:p>
            <a:pPr marL="0" indent="0" algn="just">
              <a:buClr>
                <a:srgbClr val="FF0000"/>
              </a:buClr>
              <a:buNone/>
            </a:pP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D2D25-F808-2E84-D9B9-AFDF4295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18</a:t>
            </a:fld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211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936" y="2746016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9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IN" sz="9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B402E-B753-B603-33B2-F32A456D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72DB9CA-C85A-4E11-ADC0-8193E41C1656}" type="slidenum">
              <a:rPr lang="en-IN" b="1" smtClean="0">
                <a:solidFill>
                  <a:schemeClr val="tx1"/>
                </a:solidFill>
              </a:rPr>
              <a:t>19</a:t>
            </a:fld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78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1005</Words>
  <Application>Microsoft Office PowerPoint</Application>
  <PresentationFormat>Widescreen</PresentationFormat>
  <Paragraphs>144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Narrow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OBJECTIVE OF THE PROJECT</vt:lpstr>
      <vt:lpstr>ABSTRACT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SUMMARY OF MODULE-1</vt:lpstr>
      <vt:lpstr>SUMMARY OF MODULE-2</vt:lpstr>
      <vt:lpstr>SUMMARY OF MODULE-3</vt:lpstr>
      <vt:lpstr>SUMMARY OF MODULE-4</vt:lpstr>
      <vt:lpstr>RESULTS AND DISCUSSION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balaji K</cp:lastModifiedBy>
  <cp:revision>10</cp:revision>
  <dcterms:modified xsi:type="dcterms:W3CDTF">2024-12-05T04:02:11Z</dcterms:modified>
</cp:coreProperties>
</file>